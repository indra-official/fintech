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Indra-Official/FIntech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Indra-Official/FIntech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Indra-Official/FIntech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Indra-Official/FIntech" TargetMode="Externa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Indra-Official/FIntech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Indra-Official/FIntech" TargetMode="Externa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Indra-Official/FIntech" TargetMode="Externa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Indra-Official/FIntech" TargetMode="Externa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Indra-Official/FIntech" TargetMode="Externa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Indra-Official/FIntech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Indra-Official/FIntech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Indra-Official/FIntech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FINTECH / INSURTECH DIGITAL ASSIGNMENT • 2026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01168"/>
            <a:ext cx="4785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hlinkClick r:id="rId2"/>
              </a:rPr>
              <a:t>GitHub: https://github.com/Indra-Official/FIntech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Statement #31 — Predictive Underwriting &amp; Loss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Digital Assignment &amp; Live System Demonstration • Historical + Real-Time Telematics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6675120" cy="448056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28216"/>
            <a:ext cx="634593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Project Scope &amp; 2026 Regulatory Pillars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Core Objective: Fuse historical policy/claims records with real-time IoT telematics streams to improve insurance pricing, underwriting tiering, and portfolio loss forecasting.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2026 Pillar 1 — Calibrated Risk Models: Isotonic &amp; Platt probability calibration reducing Expected Calibration Error (ECE) from 0.1348 to 0.0182 and Brier Score from 0.2265 to 0.2072.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2026 Pillar 2 — Continuous Model Monitoring: Automated Population Stability Index (PSI) &amp; Kolmogorov-Smirnov (KS) drift detection across quarterly streams.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2026 Pillar 3 — Data Privacy Guardrails: Salted SHA-256 PII tokenization, k-anonymity generalization, and configurable ε-Differential Privacy (Laplace mechanism).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2026 Pillar 4 — Fairness Constraints: Kamiran-Calders reweighing + post-processing calibration raising Disparate Impact Ratio from 0.6171 to 0.9917 (passing the 80% rule).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00200"/>
            <a:ext cx="4114800" cy="448056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62671" y="1728216"/>
            <a:ext cx="3785615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4D399"/>
                </a:solidFill>
              </a:defRPr>
            </a:pPr>
            <a:r>
              <a:t>Key Benchmark Highlights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ROC-AUC Discrimination: 0.725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Calibrated Brier Score: 0.2072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Calibration Error (ECE): 0.0182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Disparate Impact Ratio: 0.9917 (≥0.80 Pass)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Loss Forecast Accuracy: 99.89%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Live Web Demo: Flask + Real-Time Telemetry Studio (http://127.0.0.1:5000)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E2E8F0"/>
                </a:solidFill>
              </a:rPr>
              <a:t>• GitHub Repo: </a:t>
            </a:r>
            <a:r>
              <a:rPr sz="1150" b="1">
                <a:solidFill>
                  <a:srgbClr val="38BDF8"/>
                </a:solidFill>
                <a:hlinkClick r:id="rId2"/>
              </a:rPr>
              <a:t>https://github.com/Indra-Official/FIntech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STATEMENT #31 • 2026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01168"/>
            <a:ext cx="4785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hlinkClick r:id="rId2"/>
              </a:rPr>
              <a:t>GitHub: https://github.com/Indra-Official/FIntech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1. Problem Statement &amp; Limitations of Legacy Underwriting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Why static actuarial tables fail in modern high-frequency InsurTech environments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3520440" cy="466344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36776"/>
            <a:ext cx="3191256" cy="4407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B7185"/>
                </a:solidFill>
              </a:defRPr>
            </a:pPr>
            <a:r>
              <a:t>Legacy Static Underwriting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Relies solely on lagging historical variables (age, gender, credit score, 3-year claim count).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Blind to real-time behavioral shifts (harsh braking, night speeding, severe route weather).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Uncalibrated ML classifiers distort true claim probabilities, causing mispriced technical premiums.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Socioeconomic proxy bias penalizes safe drivers in lower-income regions.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08760"/>
            <a:ext cx="3520440" cy="466344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636776"/>
            <a:ext cx="3191256" cy="4407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Our Hybrid Real-Time Solution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Combines 8 Historical Policy Features with 5 Real-Time Connected Vehicle / IoT Telemetry Streams.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Dual-Stage Actuarial Engine: Calibrated Frequency Classifier P(Claim) × Gradient Boosted Severity E[Loss|Claim].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Dynamic Telematics Modifier (-22% safe driver discount to +35% hazard surcharge).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Sub-50ms real-time quote &amp; explainable factor attribution.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08760"/>
            <a:ext cx="3566160" cy="466344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636776"/>
            <a:ext cx="3236976" cy="4407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4D399"/>
                </a:solidFill>
              </a:defRPr>
            </a:pPr>
            <a:r>
              <a:t>2026 Compliance Mandates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Calibrated Probabilities: Required for Solvency II capital reserve accuracy.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Fairness Constraints: Enforces EEOC / NAIC 80% Disparate Impact Ratio across demographic zones.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Differential Privacy: Protects sensitive credit and behavioral telemetry via ε-Laplace noise.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Drift Governance: Continuous PSI &amp; KS-test triggers when macro or weather patterns shift.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STATEMENT #31 • 2026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01168"/>
            <a:ext cx="4785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hlinkClick r:id="rId2"/>
              </a:rPr>
              <a:t>GitHub: https://github.com/Indra-Official/FIntech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2. End-to-End Predictive Underwriting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Modular 5-stage pipeline from raw ingestion and privacy sanitization to calibrated pricing &amp; drift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2103120" cy="448056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36776"/>
            <a:ext cx="177393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Stage 1: Data Fusion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Historical Policy DB (Tenure, Prior Claims, Credit, Vehicle Value).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Real-Time IoT Stream (Braking/100km, Overspeeding, Night Ratio, Route Weather).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508760"/>
            <a:ext cx="2103120" cy="448056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1636776"/>
            <a:ext cx="177393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A78BFA"/>
                </a:solidFill>
              </a:defRPr>
            </a:pPr>
            <a:r>
              <a:t>Stage 2: Privacy Guard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Salted SHA-256 PII Tokenization.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National ID Masking.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k-Anonymity Age Bands.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ε-Differential Privacy Laplace Perturbation.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508760"/>
            <a:ext cx="2194560" cy="448056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85231" y="1636776"/>
            <a:ext cx="186537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4D399"/>
                </a:solidFill>
              </a:defRPr>
            </a:pPr>
            <a:r>
              <a:t>Stage 3: Calibrated ML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Kamiran-Calders Fairness Sample Weights.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Isotonic &amp; Platt Calibrated Frequency Model.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GBR Severity Loss Model E[L|C].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08760"/>
            <a:ext cx="2103120" cy="448056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2671" y="1636776"/>
            <a:ext cx="177393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BBF24"/>
                </a:solidFill>
              </a:defRPr>
            </a:pPr>
            <a:r>
              <a:t>Stage 4: Fair Pricing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Post-Processing Group Parity Calibration.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Pure Premium = P(C) × E[L|C].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Telematics Dynamic Discount/Loading.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4-Tier Auto Decision.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1508760"/>
            <a:ext cx="1874519" cy="448056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48672" y="1636776"/>
            <a:ext cx="154533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B7185"/>
                </a:solidFill>
              </a:defRPr>
            </a:pPr>
            <a:r>
              <a:t>Stage 5: Drift Monitor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Feature PSI &amp; Score PSI.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Two-Sample KS Test.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Quarterly ECE &amp; A/E Loss Ratio Alerts.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STATEMENT #31 • 2026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01168"/>
            <a:ext cx="4785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hlinkClick r:id="rId2"/>
              </a:rPr>
              <a:t>GitHub: https://github.com/Indra-Official/FIntech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3. Calibrated Risk Models &amp; Reliability Analysis (2026 Update)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Comparing Uncalibrated Ensemble vs. Platt Scaling (Sigmoid) vs. Isotonic Regression Calibration</a:t>
            </a:r>
          </a:p>
        </p:txBody>
      </p:sp>
      <p:pic>
        <p:nvPicPr>
          <p:cNvPr id="7" name="Picture 6" descr="calibration_reli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6675120" cy="427207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06640" y="1508760"/>
            <a:ext cx="4206240" cy="457200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71231" y="1636776"/>
            <a:ext cx="3877055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4D399"/>
                </a:solidFill>
              </a:defRPr>
            </a:pPr>
            <a:r>
              <a:t>Why Calibration Matters in Underwriting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In insurance pricing, raw classifier scores are NOT true probabilities: Pure Premium = P(Claim) × Severity requires exact probability alignment.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Uncalibrated RF: Brier = 0.2265, ECE = 0.1348 (systematically over-predicts risk due to cost-sensitive trees).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Platt Scaling (Sigmoid): Brier = 0.2071, ECE = 0.0331.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Isotonic Regression (Selected): Brier = 0.2072, ECE = 0.0182, ROC-AUC = 0.725.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Result: Aligns predicted claim frequency tightly with the 45° empirical actuarial diagonal.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STATEMENT #31 • 2026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01168"/>
            <a:ext cx="4785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hlinkClick r:id="rId2"/>
              </a:rPr>
              <a:t>GitHub: https://github.com/Indra-Official/FIntech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4. Actuarial Pricing Formula &amp; Portfolio Loss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Translating calibrated claim probabilities and severity regressions into technical premiums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486400" cy="457200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36776"/>
            <a:ext cx="515721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Mathematical Pricing &amp; Loss Formulation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1. Expected Claim Frequency: P_fair(Claim | X_hist, X_rt) via Isotonic Calibrated + Fairness-Constrained Classifier.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2. Expected Claim Severity: E[Loss | Claim, X] via Gradient Boosting Regressor (Severity MAE = $1,009.02, R² = 0.514).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3. Pure Premium (Expected Annual Loss): Pure_Premium = P_fair(Claim) × E[Loss | Claim].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4. Real-Time Telematics Adjustment: Δ_RT = Pure_Premium × 0.65% × (72.0 - Telematics_Score).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5. Technical Annual Premium = (Pure_Premium + Δ_RT + $115 Fixed Expense) / (1 - 0.24 Solvency &amp; Expense Ratio).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349240" cy="457200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636776"/>
            <a:ext cx="5020055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BBF24"/>
                </a:solidFill>
              </a:defRPr>
            </a:pPr>
            <a:r>
              <a:t>Holdout Portfolio Loss Forecasting Results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Holdout Test Portfolio Size: 981 Policies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Forecasted Portfolio Total Loss: $1,376,917.13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Observed Actual Portfolio Loss: $1,375,447.01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Portfolio Loss Forecast Accuracy: 99.89%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Average Pure Premium per Policy: $1,403.59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Top Predictive Risk Drivers: (1) Real-Time Telematics Score, (2) Harsh Braking/100km, (3) Overspeed Ratio, (4) Prior Claims, (5) Night Driving Ratio.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STATEMENT #31 • 2026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01168"/>
            <a:ext cx="4785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hlinkClick r:id="rId2"/>
              </a:rPr>
              <a:t>GitHub: https://github.com/Indra-Official/FIntech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5. Fairness Constraints &amp; Proxy Bias Mitigation (2026 Update)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Enforcing the 80% Disparate Impact Rule across socioeconomic regions and demographic groups</a:t>
            </a:r>
          </a:p>
        </p:txBody>
      </p:sp>
      <p:pic>
        <p:nvPicPr>
          <p:cNvPr id="7" name="Picture 6" descr="fairness_mitig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6675120" cy="409407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06640" y="1508760"/>
            <a:ext cx="4206240" cy="457200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71231" y="1636776"/>
            <a:ext cx="3877055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4D399"/>
                </a:solidFill>
              </a:defRPr>
            </a:pPr>
            <a:r>
              <a:t>Two-Stage Fairness Architecture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Problem: Historical credit scores correlate with regional income tiers, causing unmitigated models to penalize safe Low-Income Zone drivers.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Before Mitigation: Disparate Impact Ratio (DIR) = 0.6171 (&lt; 0.80 EEOC threshold — FAILS compliance).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Stage 1 (Pre-Processing): Kamiran &amp; Calders sample reweighing w(a,y) = P(A)P(Y)/P(A,Y).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Stage 2 (Post-Processing): Actuarial group-mean parity calibration preserving total portfolio expected loss.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After Mitigation: DIR = 0.9917 (PASSES ≥ 0.80 rule), Statistical Parity Diff improved from -0.0778 to -0.0039.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STATEMENT #31 • 2026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01168"/>
            <a:ext cx="4785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hlinkClick r:id="rId2"/>
              </a:rPr>
              <a:t>GitHub: https://github.com/Indra-Official/FIntech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6. Data Privacy &amp; Differential Privacy Engine (2026 Update)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Protecting PII and sensitive telemetry via cryptographic tokenization, k-anonymity, and ε-Laplace noise</a:t>
            </a:r>
          </a:p>
        </p:txBody>
      </p:sp>
      <p:pic>
        <p:nvPicPr>
          <p:cNvPr id="7" name="Picture 6" descr="privacy_utility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6492240" cy="3967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69480" y="1508760"/>
            <a:ext cx="4343400" cy="457200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636776"/>
            <a:ext cx="4014215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A78BFA"/>
                </a:solidFill>
              </a:defRPr>
            </a:pPr>
            <a:r>
              <a:t>Three Defense-in-Depth Privacy Layers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Layer 1 — Cryptographic Pseudonymization: Applicant names hashed with salted SHA-256 (e.g., 'Ananya Sharma' → 'TOK-8F91A2B4C1E0'); National IDs masked to last 4 digits.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Layer 2 — k-Anonymity Generalization: Exact ages generalized into actuarial age bands (18-25, 26-35, 36-45, etc.) for analytics storage.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Layer 3 — ε-Differential Privacy: Calibrated Laplace noise Lap(0, Δf / ε) injected into sensitive credit &amp; telematics features.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Recommended Operating Point: ε = 2.5 preserves ROC-AUC &gt; 0.80 and Brier calibration while preventing reconstruction attacks.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STATEMENT #31 • 2026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01168"/>
            <a:ext cx="4785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hlinkClick r:id="rId2"/>
              </a:rPr>
              <a:t>GitHub: https://github.com/Indra-Official/FIntech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7. Continuous Model Monitoring &amp; Drift Detection (2026 Update)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Tracking Population Stability Index (PSI), KS-Tests, and Calibration Decay across 2026 quarters</a:t>
            </a:r>
          </a:p>
        </p:txBody>
      </p:sp>
      <p:pic>
        <p:nvPicPr>
          <p:cNvPr id="7" name="Picture 6" descr="drift_monitoring_p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6675120" cy="409407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06640" y="1508760"/>
            <a:ext cx="4206240" cy="457200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71231" y="1636776"/>
            <a:ext cx="3877055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B7185"/>
                </a:solidFill>
              </a:defRPr>
            </a:pPr>
            <a:r>
              <a:t>Automated Drift Governance Protocol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Population Stability Index (PSI): Quantifies distributional shift between Baseline Training data and live production windows.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PSI &lt; 0.10 (Green): Stable — Normal underwriting operation.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0.10 ≤ PSI &lt; 0.25 (Amber): Moderate shift — Trigger actuarial watch alert (seen in 2026-Q3 Mild Telematics Shift).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PSI ≥ 0.25 (Red): Critical shift — Automated model recalibration &amp; retraining triggered (seen in 2026-Q4 Severe Weather/Macro Shift where braking &amp; overspeed PSI &gt; 0.30).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LIVE DEMONSTRATION GUIDE •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01168"/>
            <a:ext cx="4785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hlinkClick r:id="rId2"/>
              </a:rPr>
              <a:t>GitHub: https://github.com/Indra-Official/FIntech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8. Live Demonstration Walkthrough — Interactive Web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How the live application (app.py) demonstrates real-time underwriting, calibration, fairness &amp; drift</a:t>
            </a:r>
          </a:p>
        </p:txBody>
      </p:sp>
      <p:pic>
        <p:nvPicPr>
          <p:cNvPr id="7" name="Picture 6" descr="loss_forecasting_pric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6766560" cy="399053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508760"/>
            <a:ext cx="4114800" cy="457200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62671" y="1636776"/>
            <a:ext cx="3785615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What to Show During Live Demo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Step 1: Launch `python app.py` and open http://127.0.0.1:5000.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Step 2: Click through the 4 curated Demo Personas (Safe Commuter, Fairness Showcase, Night Speeder, High-Risk Decline).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Step 3: Toggle the 'Fairness Constraint' checkbox on Case 2 to show live reduction in Low-Income Zone risk penalty.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Step 4: Click '⚡ Stream Live IoT Packet' to demonstrate real-time connected vehicle underwriting.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Step 5: Switch to Tabs 2, 3, and 4 to show Reliability Curves, Fairness DIR, and PSI Drift triggers.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LIVE DEMONSTRATION GUIDE •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01168"/>
            <a:ext cx="4785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hlinkClick r:id="rId2"/>
              </a:rPr>
              <a:t>GitHub: https://github.com/Indra-Official/FIntech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9. Demonstration Test Cases — Exact Inputs &amp;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Side-by-side comparison of the 4 live demonstration scenarios built into the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2651760" cy="466344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36776"/>
            <a:ext cx="2322576" cy="4407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4D399"/>
                </a:solidFill>
              </a:defRPr>
            </a:pPr>
            <a:r>
              <a:t>Case 1: Safe Driver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Profile: 34yo, 0 claims, Credit 765, Telematics 91.5/100.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Uncalibrated Prob: 12.9%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Calibrated Prob: 2.0%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Telematics Mod: -13.84% Discount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Annual Premium: $240.00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Decision: TIER 1: PREFERRED PLUS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508760"/>
            <a:ext cx="2651760" cy="466344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636776"/>
            <a:ext cx="2322576" cy="4407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Case 2: Fairness Demo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Profile: Low-Income Zone, 0 claims, Telematics 84.0/100.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Uncalibrated Prob: 35.0%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Fairness Shift: -0.7%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Final Risk Prob: 20.5%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Annual Premium: $673.51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Decision: TIER 2: STANDARD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2651760" cy="466344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636776"/>
            <a:ext cx="2322576" cy="4407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BBF24"/>
                </a:solidFill>
              </a:defRPr>
            </a:pPr>
            <a:r>
              <a:t>Case 3: Night Speeder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Profile: 0 prior claims, but 46% night driving &amp; 42% overspeed.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Telematics Score: 49.0 / 100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Final Risk Prob: 89.2%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Telematics Mod: +15.28% Surcharge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Annual Premium: $9,074.95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Decision: TIER 4: HIGH RISK / DECLINE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508760"/>
            <a:ext cx="2606040" cy="466344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17152" y="1636776"/>
            <a:ext cx="2276856" cy="4407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B7185"/>
                </a:solidFill>
              </a:defRPr>
            </a:pPr>
            <a:r>
              <a:t>Case 4: High-Risk Decline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Profile: 3 prior claims, Telematics 34.5, Braking 11.4/100km.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Uncalibrated Prob: 83.4%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Final Risk Prob: 77.5%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Pure Loss E[L]: $5,057.40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Annual Quote: $8,380.24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Decision: TIER 4: HIGH RISK / DECLINE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STATEMENT #31 • 2026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01168"/>
            <a:ext cx="4785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hlinkClick r:id="rId2"/>
              </a:rPr>
              <a:t>GitHub: https://github.com/Indra-Official/FIntech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10. GitHub Repository Structure &amp; Reproducibility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Clean, modular, production-ready codebase ready for GitHub hosting and peer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486400" cy="457200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36776"/>
            <a:ext cx="5157216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Repository Directory Layout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├── app.py  (Flask Live Underwriting &amp; Monitoring Web Server)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├── generate_assets_and_ppt.py  (Reproducible Chart &amp; Deck Builder)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├── requirements.txt &amp; README.md  (Full Docs &amp; GitHub Visuals)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├── src/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│   ├── data_pipeline.py  (Historical + Real-Time IoT Stream Generator)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│   ├── risk_models.py  (Platt/Isotonic Calibration + Severity GBR)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│   ├── fairness_engine.py  (Kamiran-Calders + Post-Processing Parity)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│   ├── privacy_engine.py  (SHA-256 Tokenization + ε-Laplace DP)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│   └── monitoring_engine.py  (Feature PSI, KS-Test &amp; Quarterly Drift)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├── templates/index.html  (Interactive Tailwind + Chart.js Studio)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└── presentation/  (Editable .pptx + Standalone HTML Slide Deck)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349240" cy="457200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636776"/>
            <a:ext cx="5020055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4D399"/>
                </a:solidFill>
              </a:defRPr>
            </a:pPr>
            <a:r>
              <a:t>Quick-Start &amp; GitHub Repository Link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E2E8F0"/>
                </a:solidFill>
              </a:rPr>
              <a:t>• Official GitHub Repository: </a:t>
            </a:r>
            <a:r>
              <a:rPr sz="1150" b="1">
                <a:solidFill>
                  <a:srgbClr val="38BDF8"/>
                </a:solidFill>
                <a:hlinkClick r:id="rId2"/>
              </a:rPr>
              <a:t>https://github.com/Indra-Official/FIntech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E2E8F0"/>
                </a:solidFill>
              </a:rPr>
              <a:t>• 1. Clone Repository:  git clone </a:t>
            </a:r>
            <a:r>
              <a:rPr sz="1150" b="1">
                <a:solidFill>
                  <a:srgbClr val="38BDF8"/>
                </a:solidFill>
                <a:hlinkClick r:id="rId2"/>
              </a:rPr>
              <a:t>https://github.com/Indra-Official/FIntech.git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2. Install Dependencies:  pip install -r requirements.txt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3. Regenerate Benchmarks &amp; Slides:  python generate_assets_and_ppt.py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4. Launch Interactive Live Demo:  python app.py  (http://127.0.0.1:5000)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5. Git Remote Configuration: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E2E8F0"/>
                </a:solidFill>
              </a:rPr>
              <a:t>•    git remote add origin </a:t>
            </a:r>
            <a:r>
              <a:rPr sz="1150" b="1">
                <a:solidFill>
                  <a:srgbClr val="38BDF8"/>
                </a:solidFill>
                <a:hlinkClick r:id="rId2"/>
              </a:rPr>
              <a:t>https://github.com/Indra-Official/FIntech.git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   git branch -M main &amp;&amp; git push -u origin main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STATEMENT #31 • 2026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01168"/>
            <a:ext cx="4785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hlinkClick r:id="rId2"/>
              </a:rPr>
              <a:t>GitHub: https://github.com/Indra-Official/FIntech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11. Conclusion &amp; Business Impact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Delivering accurate, fair, privacy-preserving, and drift-resilient insurance underwriting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64240" cy="4480560"/>
          </a:xfrm>
          <a:prstGeom prst="roundRect">
            <a:avLst/>
          </a:prstGeom>
          <a:solidFill>
            <a:srgbClr val="161F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28216"/>
            <a:ext cx="1073505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Summary of Achievements for Statement #31 (2026 Update)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1. Historical + Real-Time Fusion: Combined traditional policy/claim records with live IoT telematics streams, enabling behavior-based dynamic discounts (-22%) and hazard surcharges (+35%).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2. Calibrated Risk &amp; Loss Forecasting: Isotonic calibration reduced Brier score to 0.2072 and ECE to 0.0182, achieving 99.89% portfolio loss forecast accuracy.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3. Audited Algorithmic Fairness: Eliminated regional socioeconomic proxy bias, lifting the Disparate Impact Ratio from 0.6171 to 0.9917 (compliant with the ≥0.80 regulatory threshold).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4. Defense-in-Depth Data Privacy: Enforced salted SHA-256 PII tokenization, National ID redaction, k-anonymity age bands, and ε-Differential Privacy.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• 5. Proactive Drift Governance: Automated PSI and KS-test monitoring across quarterly streams detects severe weather/behavioral shifts and triggers recalibration.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E2E8F0"/>
                </a:solidFill>
              </a:rPr>
              <a:t>• 6. Full Source Code &amp; Interactive Demo: </a:t>
            </a:r>
            <a:r>
              <a:rPr sz="1150" b="1">
                <a:solidFill>
                  <a:srgbClr val="38BDF8"/>
                </a:solidFill>
                <a:hlinkClick r:id="rId2"/>
              </a:rPr>
              <a:t>https://github.com/Indra-Official/FIntech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